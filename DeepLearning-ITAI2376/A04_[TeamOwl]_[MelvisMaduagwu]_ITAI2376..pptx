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7432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38912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13716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484632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1340"/>
          </a:solidFill>
          <a:ln w="12700">
            <a:solidFill>
              <a:srgbClr val="0F1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3657600" cy="1645920"/>
          </a:xfrm>
          <a:prstGeom prst="rect">
            <a:avLst/>
          </a:prstGeom>
          <a:solidFill>
            <a:srgbClr val="0F1340"/>
          </a:solidFill>
          <a:ln w="12700">
            <a:solidFill>
              <a:srgbClr val="0F1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1828800" cy="1371600"/>
          </a:xfrm>
          <a:prstGeom prst="rtTriangl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286000" y="3200400"/>
            <a:ext cx="1828800" cy="1371600"/>
          </a:xfrm>
          <a:prstGeom prst="rtTriangl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743200"/>
            <a:ext cx="2011680" cy="1828800"/>
          </a:xfrm>
          <a:prstGeom prst="rtTriangle">
            <a:avLst/>
          </a:prstGeom>
          <a:solidFill>
            <a:srgbClr val="3B4DB8"/>
          </a:solidFill>
          <a:ln w="12700">
            <a:solidFill>
              <a:srgbClr val="3B4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7040880" y="2743200"/>
            <a:ext cx="2011680" cy="1828800"/>
          </a:xfrm>
          <a:prstGeom prst="rtTriangle">
            <a:avLst/>
          </a:prstGeom>
          <a:solidFill>
            <a:srgbClr val="3B4DB8"/>
          </a:solidFill>
          <a:ln w="12700">
            <a:solidFill>
              <a:srgbClr val="3B4D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3200400"/>
            <a:ext cx="548640" cy="36576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2560320" y="3200400"/>
            <a:ext cx="548640" cy="36576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743200"/>
            <a:ext cx="548640" cy="36576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315200" y="2743200"/>
            <a:ext cx="548640" cy="36576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514600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 Descent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Learns to Walk Downhill 🏔️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Adventure for Young Minds!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Goodfellow et al., Deep Learning (2016) | Ruder, An Overview of Gradient Descent Algorithms (2016)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🤔 What is Gradient Descent?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🏔️ The Hiking Story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hiking in the dark and you want to reach the </a:t>
            </a:r>
            <a:pPr indent="0" marL="0">
              <a:buNone/>
            </a:pPr>
            <a:r>
              <a:rPr lang="en-US" sz="1400" b="1" dirty="0">
                <a:solidFill>
                  <a:srgbClr val="E84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valley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bottom of a mountain.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anything, so you feel the ground with your feet and ask: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direction goes </a:t>
            </a:r>
            <a:pPr indent="0" marL="0">
              <a:buNone/>
            </a:pPr>
            <a:r>
              <a:rPr lang="en-US" sz="1400" b="1" dirty="0">
                <a:solidFill>
                  <a:srgbClr val="6C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downhill?"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you take a small step that way.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Gradient Descent does for AI!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51560"/>
            <a:ext cx="2926080" cy="1005840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The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LOWEST 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(minimum mistake/loss)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2926080" cy="1005840"/>
          </a:xfrm>
          <a:prstGeom prst="round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Used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EVERY modern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neural network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337560"/>
            <a:ext cx="2926080" cy="1005840"/>
          </a:xfrm>
          <a:prstGeom prst="round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Invented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Cauchy, 1847 —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years ago!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Cauchy, 1847 | Goodfellow, Bengio &amp; Courville, Deep Learning, MIT Press 2016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The Mistake Score (Loss)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E847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7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Think of a Dart Game!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Bullseye = perfect score = </a:t>
            </a:r>
            <a:pPr indent="0" marL="0">
              <a:buNone/>
            </a:pPr>
            <a:r>
              <a:rPr lang="en-US" sz="13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mistakes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center = </a:t>
            </a:r>
            <a:pPr indent="0" marL="0">
              <a:buNone/>
            </a:pPr>
            <a:r>
              <a:rPr lang="en-US" sz="1350" b="1" dirty="0">
                <a:solidFill>
                  <a:srgbClr val="E84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mistake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job is to keep throwing darts until it hits the bullseye every time!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350" b="1" dirty="0">
                <a:solidFill>
                  <a:srgbClr val="6C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"Loss"</a:t>
            </a:r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just measuring how far away from the bullseye you are.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645920"/>
          </a:xfrm>
          <a:prstGeom prst="round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Math Language: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(AI's guess − real answer)²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makes all mistakes positive!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1280160" cy="1828800"/>
          </a:xfrm>
          <a:prstGeom prst="round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Great!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0.01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926080"/>
            <a:ext cx="1280160" cy="1828800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220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Okay...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2.50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2926080"/>
            <a:ext cx="1280160" cy="1828800"/>
          </a:xfrm>
          <a:prstGeom prst="round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😱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8952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Terrible!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99.0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Goodfellow et al., Deep Learning (2016) | 3Blue1Brown, 'Neural Networks' YouTube Series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🪜 How Gradient Descent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502920" cy="50292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Somewhere Random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starts with random guesses — like being dropped blindfolded on a mountain!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21615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7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Feel the Slope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gradient — which direction is "downhill"? This tells us which way to adjust.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0896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a Small 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tiny bit in the downhill direction. The step size is called the Learning Rate.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136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 Loss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mistake score get smaller? Great! Keep going until you reach the bottom.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Ruder, S. (2016). An overview of gradient descent optimization algorithms. arXiv:1609.04747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👣 The Learning Rate — Step Size Matters!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749040"/>
          </a:xfrm>
          <a:prstGeom prst="roundRect">
            <a:avLst/>
          </a:prstGeom>
          <a:solidFill>
            <a:srgbClr val="FFFDE7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743200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Small 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= 0.00001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FOREVER to reach the bottom. Like taking baby steps down Everest — you'll get there in 1000 years!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194560" cy="457200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Very Slow 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3749040"/>
          </a:xfrm>
          <a:prstGeom prst="roundRect">
            <a:avLst/>
          </a:prstGeom>
          <a:solidFill>
            <a:srgbClr val="E8FFF7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51560"/>
            <a:ext cx="2743200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Just Right 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= 0.01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confident steps. Reaches the bottom efficiently. This is the sweet spot every AI engineer looks for!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4160520"/>
            <a:ext cx="2194560" cy="457200"/>
          </a:xfrm>
          <a:prstGeom prst="round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Perfect! 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743200" cy="374904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E847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Large 🏃💨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 = 10.0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1488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right over the bottom and bounces around forever! Like running down a hill so fast you fly past the valley.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160520"/>
            <a:ext cx="2194560" cy="457200"/>
          </a:xfrm>
          <a:prstGeom prst="round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Learns 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LeCun et al. (1998), Efficient BackProp | Goodfellow et al. (2016), Deep Learning Ch.8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Gradient Descent in the Real World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Games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game characters learn to play using gradient descent — getting better every match!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7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phone's face recognition was trained with gradient descent to recognize your face perfectly!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 &amp; Google Assistant understand your voice thanks to gradient descent training!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you may have talked to online was trained using gradient descent on millions of texts!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Medical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use AI trained with gradient descent to spot diseases in X-rays faster and more accurately!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97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7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Self-Driving Cars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and Waymo's cars learn to drive safely using gradient descent on millions of miles of data!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LeCun, Bengio &amp; Hinton, 'Deep Learning', Nature 2015 | OpenAI Technical Report 2023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6576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448056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8288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🎉 What We Learned Today!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🏔️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005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= walking downhill in the dark to find the lowest valley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00784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00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65506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the AI's mistake score — we want to make it as LOW as possible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042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the slope that tells us which direction to step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95351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= the step size — not too big, not too small!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60273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thousands of times until the AI gets really good!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6C3FC0"/>
          </a:solidFill>
          <a:ln w="12700">
            <a:solidFill>
              <a:srgbClr val="6C3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251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EVERYTHING: phones, cars, games, medical AI, and ChatGPT!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0" y="4663440"/>
            <a:ext cx="4572000" cy="365760"/>
          </a:xfrm>
          <a:prstGeom prst="roundRect">
            <a:avLst/>
          </a:prstGeom>
          <a:solidFill>
            <a:srgbClr val="E8478B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now understand how AI learns! 🤖✨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 for Kids</dc:title>
  <dc:subject>PptxGenJS Presentation</dc:subject>
  <dc:creator>PptxGenJS</dc:creator>
  <cp:lastModifiedBy>PptxGenJS</cp:lastModifiedBy>
  <cp:revision>1</cp:revision>
  <dcterms:created xsi:type="dcterms:W3CDTF">2026-04-29T22:01:05Z</dcterms:created>
  <dcterms:modified xsi:type="dcterms:W3CDTF">2026-04-29T22:01:05Z</dcterms:modified>
</cp:coreProperties>
</file>